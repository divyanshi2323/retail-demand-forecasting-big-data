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1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8" r:id="rId19"/>
    <p:sldId id="257" r:id="rId20"/>
    <p:sldId id="277" r:id="rId21"/>
    <p:sldId id="279" r:id="rId28"/>
    <p:sldId id="280" r:id="rId29"/>
    <p:sldId id="281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4FC96F6-9B79-756A-1073-543549A61C8E}">
          <p14:sldIdLst>
            <p14:sldId id="256"/>
            <p14:sldId id="258"/>
          </p14:sldIdLst>
        </p14:section>
        <p14:section name="Problem and Data" id="{23C3EC9F-7201-A577-7EF0-F506F57E15EA}">
          <p14:sldIdLst>
            <p14:sldId id="259"/>
            <p14:sldId id="261"/>
          </p14:sldIdLst>
        </p14:section>
        <p14:section name="Architecture and Pipeline" id="{C38910E6-8D79-177D-56C4-C5BFF8AA8F45}">
          <p14:sldIdLst>
            <p14:sldId id="263"/>
            <p14:sldId id="265"/>
            <p14:sldId id="266"/>
          </p14:sldIdLst>
        </p14:section>
        <p14:section name="Hive Analytics" id="{131F4E77-492B-159E-D343-691DBF60BD31}">
          <p14:sldIdLst>
            <p14:sldId id="267"/>
            <p14:sldId id="268"/>
            <p14:sldId id="269"/>
          </p14:sldIdLst>
        </p14:section>
        <p14:section name="Wrap-up" id="{F7C8A4EE-B3F9-D83E-C1FD-78DA98BFBEB7}">
          <p14:sldIdLst>
            <p14:sldId id="270"/>
          </p14:sldIdLst>
        </p14:section>
        <p14:section name="PySpark" id="{775ADA61-6DD1-4D90-A11C-63D348A81B01}">
          <p14:sldIdLst>
            <p14:sldId id="271"/>
            <p14:sldId id="272"/>
            <p14:sldId id="273"/>
            <p14:sldId id="274"/>
          </p14:sldIdLst>
        </p14:section>
        <p14:section name="MLlib" id="{52217856-ABED-4654-937E-D0D670AF79CA}">
          <p14:sldIdLst>
            <p14:sldId id="275"/>
            <p14:sldId id="276"/>
            <p14:sldId id="278"/>
            <p14:sldId id="257"/>
          </p14:sldIdLst>
        </p14:section>
        <p14:section name="Wrap-up" id="{D749798D-F21E-4D43-8915-3AC0D6EDA001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  <Relationship Id="rId28" Type="http://schemas.openxmlformats.org/officeDocument/2006/relationships/slide" Target="slides/slide21.xml"/>
  <Relationship Id="rId29" Type="http://schemas.openxmlformats.org/officeDocument/2006/relationships/slide" Target="slides/slide22.xml"/>
  <Relationship Id="rId30" Type="http://schemas.openxmlformats.org/officeDocument/2006/relationships/slide" Target="slides/slide23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ka Misra" userId="0e32e2cd9942707f" providerId="LiveId" clId="{9D15E6C3-693D-4BB8-AFF6-2C61FD780C15}"/>
    <pc:docChg chg="modSld">
      <pc:chgData name="Anushka Misra" userId="0e32e2cd9942707f" providerId="LiveId" clId="{9D15E6C3-693D-4BB8-AFF6-2C61FD780C15}" dt="2026-10-06T14:04:55.041" v="1" actId="6549"/>
      <pc:docMkLst>
        <pc:docMk/>
      </pc:docMkLst>
      <pc:sldChg chg="modSp mod">
        <pc:chgData name="Anushka Misra" userId="0e32e2cd9942707f" providerId="LiveId" clId="{9D15E6C3-693D-4BB8-AFF6-2C61FD780C15}" dt="2026-10-06T14:04:50.259" v="0" actId="6549"/>
        <pc:sldMkLst>
          <pc:docMk/>
          <pc:sldMk cId="0" sldId="256"/>
        </pc:sldMkLst>
        <pc:spChg chg="mod">
          <ac:chgData name="Anushka Misra" userId="0e32e2cd9942707f" providerId="LiveId" clId="{9D15E6C3-693D-4BB8-AFF6-2C61FD780C15}" dt="2026-10-06T14:04:50.259" v="0" actId="6549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Anushka Misra" userId="0e32e2cd9942707f" providerId="LiveId" clId="{9D15E6C3-693D-4BB8-AFF6-2C61FD780C15}" dt="2026-10-06T14:04:55.041" v="1" actId="6549"/>
        <pc:sldMkLst>
          <pc:docMk/>
          <pc:sldMk cId="0" sldId="258"/>
        </pc:sldMkLst>
        <pc:spChg chg="mod">
          <ac:chgData name="Anushka Misra" userId="0e32e2cd9942707f" providerId="LiveId" clId="{9D15E6C3-693D-4BB8-AFF6-2C61FD780C15}" dt="2026-10-06T14:04:55.041" v="1" actId="6549"/>
          <ac:spMkLst>
            <pc:docMk/>
            <pc:sldMk cId="0" sldId="258"/>
            <ac:spMk id="1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1F3A"/>
                </a:solidFill>
                <a:latin typeface="+mn-lt"/>
              </a:rPr>
              <a:t>Total demand by category (units)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demand</c:v>
                </c:pt>
              </c:strCache>
            </c:strRef>
          </c:tx>
          <c:spPr>
            <a:solidFill>
              <a:srgbClr val="0F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Groceries</c:v>
                </c:pt>
                <c:pt idx="1">
                  <c:v>Clothing</c:v>
                </c:pt>
                <c:pt idx="2">
                  <c:v>Furniture</c:v>
                </c:pt>
                <c:pt idx="3">
                  <c:v>Toys</c:v>
                </c:pt>
                <c:pt idx="4">
                  <c:v>Electronics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3677684</c:v>
                </c:pt>
                <c:pt idx="1">
                  <c:v>1369456</c:v>
                </c:pt>
                <c:pt idx="2">
                  <c:v>1006590</c:v>
                </c:pt>
                <c:pt idx="3">
                  <c:v>985338</c:v>
                </c:pt>
                <c:pt idx="4">
                  <c:v>889036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B6-4057-8560-BAC518BF40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0000"/>
          <c:min val="0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1F3A"/>
                </a:solidFill>
                <a:latin typeface="+mn-lt"/>
              </a:rPr>
              <a:t>Total demand by region and season (units)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Winter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437949</c:v>
                </c:pt>
                <c:pt idx="1">
                  <c:v>856949</c:v>
                </c:pt>
                <c:pt idx="2">
                  <c:v>452479</c:v>
                </c:pt>
                <c:pt idx="3">
                  <c:v>424153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29-4FED-B80A-CFAD33B44A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Summer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424629</c:v>
                </c:pt>
                <c:pt idx="1">
                  <c:v>830530</c:v>
                </c:pt>
                <c:pt idx="2">
                  <c:v>423531</c:v>
                </c:pt>
                <c:pt idx="3">
                  <c:v>397849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29-4FED-B80A-CFAD33B44A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Autumn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387126</c:v>
                </c:pt>
                <c:pt idx="1">
                  <c:v>750319</c:v>
                </c:pt>
                <c:pt idx="2">
                  <c:v>380251</c:v>
                </c:pt>
                <c:pt idx="3">
                  <c:v>364602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29-4FED-B80A-CFAD33B44A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Spring</c:v>
                </c:pt>
              </c:strCache>
            </c:strRef>
          </c:tx>
          <c:spPr>
            <a:solidFill>
              <a:srgbClr val="0F9D8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368620</c:v>
                </c:pt>
                <c:pt idx="1">
                  <c:v>716860</c:v>
                </c:pt>
                <c:pt idx="2">
                  <c:v>369210</c:v>
                </c:pt>
                <c:pt idx="3">
                  <c:v>343047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D29-4FED-B80A-CFAD33B44A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3A5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B1F3A"/>
                </a:solidFill>
                <a:latin typeface="+mn-lt"/>
              </a:rPr>
              <a:t>Average demand by weather and promotion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promotion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Sunny</c:v>
                </c:pt>
                <c:pt idx="1">
                  <c:v>Cloudy</c:v>
                </c:pt>
                <c:pt idx="2">
                  <c:v>Rainy</c:v>
                </c:pt>
                <c:pt idx="3">
                  <c:v>Snowy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104.94</c:v>
                </c:pt>
                <c:pt idx="1">
                  <c:v>95.99</c:v>
                </c:pt>
                <c:pt idx="2">
                  <c:v>86.79</c:v>
                </c:pt>
                <c:pt idx="3">
                  <c:v>85.25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9F-4D28-B4C3-DE4F8C649A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Promotion active</c:v>
                </c:pt>
              </c:strCache>
            </c:strRef>
          </c:tx>
          <c:spPr>
            <a:solidFill>
              <a:srgbClr val="0F9D8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Sunny</c:v>
                </c:pt>
                <c:pt idx="1">
                  <c:v>Cloudy</c:v>
                </c:pt>
                <c:pt idx="2">
                  <c:v>Rainy</c:v>
                </c:pt>
                <c:pt idx="3">
                  <c:v>Snowy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136.44</c:v>
                </c:pt>
                <c:pt idx="1">
                  <c:v>124.42</c:v>
                </c:pt>
                <c:pt idx="2">
                  <c:v>112.21</c:v>
                </c:pt>
                <c:pt idx="3">
                  <c:v>111.46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9F-4D28-B4C3-DE4F8C649A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3A5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+mn-lt"/>
              </a:rPr>
              <a:t>Average demand by category and promotion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promotion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Furniture</c:v>
                </c:pt>
                <c:pt idx="2">
                  <c:v>Toys</c:v>
                </c:pt>
                <c:pt idx="3">
                  <c:v>Groceries</c:v>
                </c:pt>
                <c:pt idx="4">
                  <c:v>Clothing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88.58</c:v>
                </c:pt>
                <c:pt idx="1">
                  <c:v>66.86</c:v>
                </c:pt>
                <c:pt idx="2">
                  <c:v>84.34</c:v>
                </c:pt>
                <c:pt idx="3">
                  <c:v>110.3</c:v>
                </c:pt>
                <c:pt idx="4">
                  <c:v>102.72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92-4F2C-9540-B80520311B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Promotion active</c:v>
                </c:pt>
              </c:strCache>
            </c:strRef>
          </c:tx>
          <c:spPr>
            <a:solidFill>
              <a:srgbClr val="0F9D8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Furniture</c:v>
                </c:pt>
                <c:pt idx="2">
                  <c:v>Toys</c:v>
                </c:pt>
                <c:pt idx="3">
                  <c:v>Groceries</c:v>
                </c:pt>
                <c:pt idx="4">
                  <c:v>Clothing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115.65</c:v>
                </c:pt>
                <c:pt idx="1">
                  <c:v>87.28</c:v>
                </c:pt>
                <c:pt idx="2">
                  <c:v>109.47</c:v>
                </c:pt>
                <c:pt idx="3">
                  <c:v>142.76</c:v>
                </c:pt>
                <c:pt idx="4">
                  <c:v>132.81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92-4F2C-9540-B80520311B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3A5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1F3A5F"/>
                </a:solidFill>
                <a:latin typeface="+mn-lt"/>
              </a:rPr>
              <a:t>Average demand by discount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demand</c:v>
                </c:pt>
              </c:strCache>
            </c:strRef>
          </c:tx>
          <c:spPr>
            <a:solidFill>
              <a:srgbClr val="0F9D8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  <c:pt idx="5">
                  <c:v>25%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94.75</c:v>
                </c:pt>
                <c:pt idx="1">
                  <c:v>94.94</c:v>
                </c:pt>
                <c:pt idx="2">
                  <c:v>102.77</c:v>
                </c:pt>
                <c:pt idx="3">
                  <c:v>123.58</c:v>
                </c:pt>
                <c:pt idx="4">
                  <c:v>124.07</c:v>
                </c:pt>
                <c:pt idx="5">
                  <c:v>122.97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8F-48D2-B6D8-8CD3E78300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1F3A5F"/>
                </a:solidFill>
                <a:latin typeface="+mn-lt"/>
              </a:rPr>
              <a:t>Test RMSE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4AE-4B40-82AE-98734FC102CE}"/>
              </c:ext>
            </c:extLst>
          </c:dPt>
          <c:dPt>
            <c:idx val="1"/>
            <c:invertIfNegative val="0"/>
            <c:bubble3D val="0"/>
            <c:spPr>
              <a:solidFill>
                <a:srgbClr val="8FB8D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4AE-4B40-82AE-98734FC102CE}"/>
              </c:ext>
            </c:extLst>
          </c:dPt>
          <c:dPt>
            <c:idx val="2"/>
            <c:invertIfNegative val="0"/>
            <c:bubble3D val="0"/>
            <c:spPr>
              <a:solidFill>
                <a:srgbClr val="0F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4AE-4B40-82AE-98734FC102CE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Baseline (lag-1)</c:v>
                </c:pt>
                <c:pt idx="1">
                  <c:v>Linear Regression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51.47</c:v>
                </c:pt>
                <c:pt idx="1">
                  <c:v>32.79</c:v>
                </c:pt>
                <c:pt idx="2">
                  <c:v>31.93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4AE-4B40-82AE-98734FC102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lang="en-IN" sz="1200" b="0" i="0" u="none" strike="noStrike">
                <a:solidFill>
                  <a:srgbClr val="1F3A5F"/>
                </a:solidFill>
                <a:latin typeface="+mn-lt"/>
              </a:rPr>
              <a:t>Random Forest 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F9D8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category = Furniture</c:v>
                </c:pt>
                <c:pt idx="1">
                  <c:v>discount</c:v>
                </c:pt>
                <c:pt idx="2">
                  <c:v>price</c:v>
                </c:pt>
                <c:pt idx="3">
                  <c:v>category = Groceries</c:v>
                </c:pt>
                <c:pt idx="4">
                  <c:v>demand_roll28_avg</c:v>
                </c:pt>
                <c:pt idx="5">
                  <c:v>promotion</c:v>
                </c:pt>
                <c:pt idx="6">
                  <c:v>epidemic</c:v>
                </c:pt>
                <c:pt idx="7">
                  <c:v>demand_roll7_avg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4.1000000000000002E-2</c:v>
                </c:pt>
                <c:pt idx="1">
                  <c:v>4.4999999999999998E-2</c:v>
                </c:pt>
                <c:pt idx="2">
                  <c:v>5.0999999999999997E-2</c:v>
                </c:pt>
                <c:pt idx="3">
                  <c:v>8.1000000000000003E-2</c:v>
                </c:pt>
                <c:pt idx="4">
                  <c:v>8.5000000000000006E-2</c:v>
                </c:pt>
                <c:pt idx="5">
                  <c:v>0.13400000000000001</c:v>
                </c:pt>
                <c:pt idx="6">
                  <c:v>0.14099999999999999</c:v>
                </c:pt>
                <c:pt idx="7">
                  <c:v>0.252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2C-400A-892B-3EE3548322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3A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97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417320"/>
            <a:ext cx="53035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Retail Demand Forecasting – Big Data Analytics Pipeline  |  Jain (Deemed-to-be) University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Retail Demand Forecasting – Big Data Analytics Pipeline  |  Jain (Deemed-to-be) University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BIG DATA ANALYTICS CAPSTONE PROJECT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4173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Retail Demand Forecasting</a:t>
            </a: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5"/>
                </a:solidFill>
              </a:rPr>
              <a:t>Big Data Analytics Pipeline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Final Technical Documentation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MSc Data Science and Analytics  |  Jain (Deemed-to-be) University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 Aisha Rasifa PS  ·  Abina A  ·  Akhila Vaidya  ·  Anuska Misra  ·  Divyanshi Mishra</a:t>
            </a:r>
            <a:endParaRPr lang="en-US" sz="1200" dirty="0"/>
          </a:p>
        </p:txBody>
      </p:sp>
      <p:sp>
        <p:nvSpPr>
          <p:cNvPr id="8" name="layer"/>
          <p:cNvSpPr/>
          <p:nvPr/>
        </p:nvSpPr>
        <p:spPr>
          <a:xfrm>
            <a:off x="6492240" y="868680"/>
            <a:ext cx="219456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badge"/>
          <p:cNvSpPr txBox="1"/>
          <p:nvPr/>
        </p:nvSpPr>
        <p:spPr>
          <a:xfrm>
            <a:off x="6629400" y="978408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868680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HDFS</a:t>
            </a:r>
            <a:endParaRPr lang="en-US" sz="1400" dirty="0"/>
          </a:p>
        </p:txBody>
      </p:sp>
      <p:sp>
        <p:nvSpPr>
          <p:cNvPr id="11" name="layer"/>
          <p:cNvSpPr/>
          <p:nvPr/>
        </p:nvSpPr>
        <p:spPr>
          <a:xfrm>
            <a:off x="6492240" y="1618488"/>
            <a:ext cx="219456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badge"/>
          <p:cNvSpPr txBox="1"/>
          <p:nvPr/>
        </p:nvSpPr>
        <p:spPr>
          <a:xfrm>
            <a:off x="6629400" y="1728216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618488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Hive</a:t>
            </a:r>
            <a:endParaRPr lang="en-US" sz="1400" dirty="0"/>
          </a:p>
        </p:txBody>
      </p:sp>
      <p:sp>
        <p:nvSpPr>
          <p:cNvPr id="14" name="layer"/>
          <p:cNvSpPr/>
          <p:nvPr/>
        </p:nvSpPr>
        <p:spPr>
          <a:xfrm>
            <a:off x="6492240" y="2368296"/>
            <a:ext cx="219456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badge"/>
          <p:cNvSpPr txBox="1"/>
          <p:nvPr/>
        </p:nvSpPr>
        <p:spPr>
          <a:xfrm>
            <a:off x="6629400" y="2478024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368296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Spark / PySpark</a:t>
            </a:r>
            <a:endParaRPr lang="en-US" sz="1400" dirty="0"/>
          </a:p>
        </p:txBody>
      </p:sp>
      <p:sp>
        <p:nvSpPr>
          <p:cNvPr id="17" name="layer"/>
          <p:cNvSpPr/>
          <p:nvPr/>
        </p:nvSpPr>
        <p:spPr>
          <a:xfrm>
            <a:off x="6492240" y="3118104"/>
            <a:ext cx="219456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badge"/>
          <p:cNvSpPr txBox="1"/>
          <p:nvPr/>
        </p:nvSpPr>
        <p:spPr>
          <a:xfrm>
            <a:off x="6629400" y="3227832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118104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Spark MLlib</a:t>
            </a:r>
            <a:endParaRPr lang="en-US" sz="1400" dirty="0"/>
          </a:p>
        </p:txBody>
      </p:sp>
      <p:sp>
        <p:nvSpPr>
          <p:cNvPr id="20" name="layer"/>
          <p:cNvSpPr/>
          <p:nvPr/>
        </p:nvSpPr>
        <p:spPr>
          <a:xfrm>
            <a:off x="6492240" y="3867912"/>
            <a:ext cx="219456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badge"/>
          <p:cNvSpPr txBox="1"/>
          <p:nvPr/>
        </p:nvSpPr>
        <p:spPr>
          <a:xfrm>
            <a:off x="6629400" y="3977640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867912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HBase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Team and Responsibilities</a:t>
            </a:r>
            <a:endParaRPr lang="en-US" sz="3000" dirty="0"/>
          </a:p>
        </p:txBody>
      </p:sp>
      <p:sp>
        <p:nvSpPr>
          <p:cNvPr id="3" name="row"/>
          <p:cNvSpPr/>
          <p:nvPr/>
        </p:nvSpPr>
        <p:spPr>
          <a:xfrm>
            <a:off x="457200" y="1143000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badge"/>
          <p:cNvSpPr txBox="1"/>
          <p:nvPr/>
        </p:nvSpPr>
        <p:spPr>
          <a:xfrm>
            <a:off x="594360" y="1252728"/>
            <a:ext cx="393192" cy="39319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43000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Aisha Rasifa PS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143000"/>
            <a:ext cx="4983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Data ingestion + HDFS storage architecture</a:t>
            </a:r>
            <a:endParaRPr lang="en-US" sz="1400" dirty="0"/>
          </a:p>
        </p:txBody>
      </p:sp>
      <p:sp>
        <p:nvSpPr>
          <p:cNvPr id="7" name="row"/>
          <p:cNvSpPr/>
          <p:nvPr/>
        </p:nvSpPr>
        <p:spPr>
          <a:xfrm>
            <a:off x="457200" y="1847088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badge"/>
          <p:cNvSpPr txBox="1"/>
          <p:nvPr/>
        </p:nvSpPr>
        <p:spPr>
          <a:xfrm>
            <a:off x="594360" y="1956816"/>
            <a:ext cx="393192" cy="39319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47088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Abina 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847088"/>
            <a:ext cx="4983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Hive data modelling, schema + SQL analytics</a:t>
            </a:r>
            <a:endParaRPr lang="en-US" sz="1400" dirty="0"/>
          </a:p>
        </p:txBody>
      </p:sp>
      <p:sp>
        <p:nvSpPr>
          <p:cNvPr id="11" name="row"/>
          <p:cNvSpPr/>
          <p:nvPr/>
        </p:nvSpPr>
        <p:spPr>
          <a:xfrm>
            <a:off x="457200" y="2551176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badge"/>
          <p:cNvSpPr txBox="1"/>
          <p:nvPr/>
        </p:nvSpPr>
        <p:spPr>
          <a:xfrm>
            <a:off x="594360" y="2660904"/>
            <a:ext cx="393192" cy="39319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51176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Akhila Vaidya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551176"/>
            <a:ext cx="4983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PySpark processing + MLlib demand forecasting</a:t>
            </a:r>
            <a:endParaRPr lang="en-US" sz="1400" dirty="0"/>
          </a:p>
        </p:txBody>
      </p:sp>
      <p:sp>
        <p:nvSpPr>
          <p:cNvPr id="15" name="row"/>
          <p:cNvSpPr/>
          <p:nvPr/>
        </p:nvSpPr>
        <p:spPr>
          <a:xfrm>
            <a:off x="457200" y="3255264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badge"/>
          <p:cNvSpPr txBox="1"/>
          <p:nvPr/>
        </p:nvSpPr>
        <p:spPr>
          <a:xfrm>
            <a:off x="594360" y="3364992"/>
            <a:ext cx="393192" cy="39319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55264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Anuska </a:t>
            </a:r>
            <a:r>
              <a:rPr lang="en-US" sz="1600" b="1" dirty="0">
                <a:solidFill>
                  <a:schemeClr val="tx1"/>
                </a:solidFill>
              </a:rPr>
              <a:t>Misra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255264"/>
            <a:ext cx="4983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Advanced integration – HBase NoSQL lookup layer</a:t>
            </a:r>
            <a:endParaRPr lang="en-US" sz="1400" dirty="0"/>
          </a:p>
        </p:txBody>
      </p:sp>
      <p:sp>
        <p:nvSpPr>
          <p:cNvPr id="19" name="row"/>
          <p:cNvSpPr/>
          <p:nvPr/>
        </p:nvSpPr>
        <p:spPr>
          <a:xfrm>
            <a:off x="457200" y="3959352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badge"/>
          <p:cNvSpPr txBox="1"/>
          <p:nvPr/>
        </p:nvSpPr>
        <p:spPr>
          <a:xfrm>
            <a:off x="594360" y="4069080"/>
            <a:ext cx="393192" cy="39319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59352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Divyanshi Mishra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959352"/>
            <a:ext cx="4983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System integration, validation + documentation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Business Problem and Objectives</a:t>
            </a:r>
            <a:endParaRPr lang="en-US" sz="3000" dirty="0"/>
          </a:p>
        </p:txBody>
      </p:sp>
      <p:sp>
        <p:nvSpPr>
          <p:cNvPr id="3" name="problem"/>
          <p:cNvSpPr/>
          <p:nvPr/>
        </p:nvSpPr>
        <p:spPr>
          <a:xfrm>
            <a:off x="457200" y="118872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Stock-outs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Lost revenue and unhappy customers</a:t>
            </a:r>
            <a:endParaRPr lang="en-US" sz="1400" dirty="0"/>
          </a:p>
        </p:txBody>
      </p:sp>
      <p:sp>
        <p:nvSpPr>
          <p:cNvPr id="6" name="problem"/>
          <p:cNvSpPr/>
          <p:nvPr/>
        </p:nvSpPr>
        <p:spPr>
          <a:xfrm>
            <a:off x="457200" y="224028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2313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Excess inventory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Holding costs, depreciation, obsolescence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37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Managers need data-driven demand forecasts across categories, regions, promotions, discounts and shocks such as epidemics.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PIPELINE OBJECTIVES</a:t>
            </a:r>
            <a:endParaRPr lang="en-US" sz="1200" dirty="0"/>
          </a:p>
        </p:txBody>
      </p:sp>
      <p:sp>
        <p:nvSpPr>
          <p:cNvPr id="11" name="badge"/>
          <p:cNvSpPr txBox="1"/>
          <p:nvPr/>
        </p:nvSpPr>
        <p:spPr>
          <a:xfrm>
            <a:off x="4663440" y="1554480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508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Distributed ingestion into HDFS</a:t>
            </a:r>
            <a:endParaRPr lang="en-US" sz="1400" dirty="0"/>
          </a:p>
        </p:txBody>
      </p:sp>
      <p:sp>
        <p:nvSpPr>
          <p:cNvPr id="13" name="badge"/>
          <p:cNvSpPr txBox="1"/>
          <p:nvPr/>
        </p:nvSpPr>
        <p:spPr>
          <a:xfrm>
            <a:off x="4663440" y="2167128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12140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SQL modelling with Hive external tables</a:t>
            </a:r>
            <a:endParaRPr lang="en-US" sz="1400" dirty="0"/>
          </a:p>
        </p:txBody>
      </p:sp>
      <p:sp>
        <p:nvSpPr>
          <p:cNvPr id="15" name="badge"/>
          <p:cNvSpPr txBox="1"/>
          <p:nvPr/>
        </p:nvSpPr>
        <p:spPr>
          <a:xfrm>
            <a:off x="4663440" y="2779776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73405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Scalable cleaning + features in PySpark</a:t>
            </a:r>
            <a:endParaRPr lang="en-US" sz="1400" dirty="0"/>
          </a:p>
        </p:txBody>
      </p:sp>
      <p:sp>
        <p:nvSpPr>
          <p:cNvPr id="17" name="badge"/>
          <p:cNvSpPr txBox="1"/>
          <p:nvPr/>
        </p:nvSpPr>
        <p:spPr>
          <a:xfrm>
            <a:off x="4663440" y="3392424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3467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Demand forecasting with Spark MLlib</a:t>
            </a:r>
            <a:endParaRPr lang="en-US" sz="1400" dirty="0"/>
          </a:p>
        </p:txBody>
      </p:sp>
      <p:sp>
        <p:nvSpPr>
          <p:cNvPr id="19" name="badge"/>
          <p:cNvSpPr txBox="1"/>
          <p:nvPr/>
        </p:nvSpPr>
        <p:spPr>
          <a:xfrm>
            <a:off x="4663440" y="4005072"/>
            <a:ext cx="384048" cy="38404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9593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Low-latency lookups via HBase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Snapshot</a:t>
            </a:r>
            <a:endParaRPr lang="en-US" sz="3000" dirty="0"/>
          </a:p>
        </p:txBody>
      </p:sp>
      <p:sp>
        <p:nvSpPr>
          <p:cNvPr id="3" name="stat"/>
          <p:cNvSpPr/>
          <p:nvPr/>
        </p:nvSpPr>
        <p:spPr>
          <a:xfrm>
            <a:off x="457200" y="11887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261872"/>
            <a:ext cx="1554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76,000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019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records</a:t>
            </a:r>
            <a:endParaRPr lang="en-US" sz="1400" dirty="0"/>
          </a:p>
        </p:txBody>
      </p:sp>
      <p:sp>
        <p:nvSpPr>
          <p:cNvPr id="6" name="stat"/>
          <p:cNvSpPr/>
          <p:nvPr/>
        </p:nvSpPr>
        <p:spPr>
          <a:xfrm>
            <a:off x="2532888" y="11887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715768" y="1261872"/>
            <a:ext cx="1554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715768" y="19019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attributes</a:t>
            </a:r>
            <a:endParaRPr lang="en-US" sz="1400" dirty="0"/>
          </a:p>
        </p:txBody>
      </p:sp>
      <p:sp>
        <p:nvSpPr>
          <p:cNvPr id="9" name="stat"/>
          <p:cNvSpPr/>
          <p:nvPr/>
        </p:nvSpPr>
        <p:spPr>
          <a:xfrm>
            <a:off x="4608576" y="11887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791456" y="1261872"/>
            <a:ext cx="1554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791456" y="190195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store-product series</a:t>
            </a:r>
            <a:endParaRPr lang="en-US" sz="1400" dirty="0"/>
          </a:p>
        </p:txBody>
      </p:sp>
      <p:sp>
        <p:nvSpPr>
          <p:cNvPr id="12" name="stat"/>
          <p:cNvSpPr/>
          <p:nvPr/>
        </p:nvSpPr>
        <p:spPr>
          <a:xfrm>
            <a:off x="6684264" y="1188720"/>
            <a:ext cx="2002536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867144" y="1261872"/>
            <a:ext cx="16367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867144" y="1901952"/>
            <a:ext cx="16367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days of history</a:t>
            </a:r>
            <a:endParaRPr lang="en-US" sz="1400" dirty="0"/>
          </a:p>
        </p:txBody>
      </p:sp>
      <p:sp>
        <p:nvSpPr>
          <p:cNvPr id="15" name="target"/>
          <p:cNvSpPr/>
          <p:nvPr/>
        </p:nvSpPr>
        <p:spPr>
          <a:xfrm>
            <a:off x="443836" y="2743200"/>
            <a:ext cx="4023360" cy="1874520"/>
          </a:xfrm>
          <a:prstGeom prst="roundRect">
            <a:avLst>
              <a:gd name="adj" fmla="val 390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008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TARGET: DEMAND (UNITS)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00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86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Min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23060" y="3200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104.32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986358" y="3886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Mean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01336" y="3200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465576" y="38816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Max</a:t>
            </a:r>
            <a:endParaRPr lang="en-US" sz="1400" dirty="0"/>
          </a:p>
        </p:txBody>
      </p:sp>
      <p:sp>
        <p:nvSpPr>
          <p:cNvPr id="23" name="coverage"/>
          <p:cNvSpPr/>
          <p:nvPr/>
        </p:nvSpPr>
        <p:spPr>
          <a:xfrm>
            <a:off x="4663440" y="2743200"/>
            <a:ext cx="40233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84632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COVERAGE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2004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stores (S001–S005)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 products (P0001–P0020)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 categories, 4 regions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Big Data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SOURCE:  retail_demand.csv  (76,000 rows × 16 columns)</a:t>
            </a:r>
            <a:endParaRPr lang="en-US" sz="1200" dirty="0"/>
          </a:p>
        </p:txBody>
      </p:sp>
      <p:sp>
        <p:nvSpPr>
          <p:cNvPr id="4" name="stage"/>
          <p:cNvSpPr/>
          <p:nvPr/>
        </p:nvSpPr>
        <p:spPr>
          <a:xfrm>
            <a:off x="457200" y="1508760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badge"/>
          <p:cNvSpPr txBox="1"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HDFS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Raw storage at /data/retail/raw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1956816" y="2286000"/>
            <a:ext cx="182880" cy="2286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tage"/>
          <p:cNvSpPr/>
          <p:nvPr/>
        </p:nvSpPr>
        <p:spPr>
          <a:xfrm>
            <a:off x="2148840" y="1508760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badge"/>
          <p:cNvSpPr txBox="1"/>
          <p:nvPr/>
        </p:nvSpPr>
        <p:spPr>
          <a:xfrm>
            <a:off x="2286000" y="1645920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Hive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514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External table retail_demand</a:t>
            </a:r>
            <a:endParaRPr lang="en-US" sz="1200" dirty="0"/>
          </a:p>
        </p:txBody>
      </p:sp>
      <p:sp>
        <p:nvSpPr>
          <p:cNvPr id="13" name="arrow"/>
          <p:cNvSpPr/>
          <p:nvPr/>
        </p:nvSpPr>
        <p:spPr>
          <a:xfrm>
            <a:off x="3648456" y="2286000"/>
            <a:ext cx="182880" cy="2286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tage"/>
          <p:cNvSpPr/>
          <p:nvPr/>
        </p:nvSpPr>
        <p:spPr>
          <a:xfrm>
            <a:off x="3840480" y="1508760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badge"/>
          <p:cNvSpPr txBox="1"/>
          <p:nvPr/>
        </p:nvSpPr>
        <p:spPr>
          <a:xfrm>
            <a:off x="3977640" y="1645920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PySpark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514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Quality audit, lags, analytics</a:t>
            </a:r>
            <a:endParaRPr lang="en-US" sz="1200" dirty="0"/>
          </a:p>
        </p:txBody>
      </p:sp>
      <p:sp>
        <p:nvSpPr>
          <p:cNvPr id="18" name="arrow"/>
          <p:cNvSpPr/>
          <p:nvPr/>
        </p:nvSpPr>
        <p:spPr>
          <a:xfrm>
            <a:off x="5340096" y="2286000"/>
            <a:ext cx="182880" cy="2286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tage"/>
          <p:cNvSpPr/>
          <p:nvPr/>
        </p:nvSpPr>
        <p:spPr>
          <a:xfrm>
            <a:off x="5532120" y="1508760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badge"/>
          <p:cNvSpPr txBox="1"/>
          <p:nvPr/>
        </p:nvSpPr>
        <p:spPr>
          <a:xfrm>
            <a:off x="5669280" y="1645920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MLlib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2514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Linear Regression vs Random Forest</a:t>
            </a:r>
            <a:endParaRPr lang="en-US" sz="1200" dirty="0"/>
          </a:p>
        </p:txBody>
      </p:sp>
      <p:sp>
        <p:nvSpPr>
          <p:cNvPr id="23" name="arrow"/>
          <p:cNvSpPr/>
          <p:nvPr/>
        </p:nvSpPr>
        <p:spPr>
          <a:xfrm>
            <a:off x="7031736" y="2286000"/>
            <a:ext cx="182880" cy="2286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tage"/>
          <p:cNvSpPr/>
          <p:nvPr/>
        </p:nvSpPr>
        <p:spPr>
          <a:xfrm>
            <a:off x="7223760" y="1508760"/>
            <a:ext cx="1463040" cy="17830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badge"/>
          <p:cNvSpPr txBox="1"/>
          <p:nvPr/>
        </p:nvSpPr>
        <p:spPr>
          <a:xfrm>
            <a:off x="7360920" y="1645920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2103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HBase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514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Store summary key-value lookups</a:t>
            </a:r>
            <a:endParaRPr lang="en-US" sz="1200" dirty="0"/>
          </a:p>
        </p:txBody>
      </p:sp>
      <p:sp>
        <p:nvSpPr>
          <p:cNvPr id="28" name="note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0080" y="3593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Logical integration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Stages ran in separate environments (local HDFS, Docker Hadoop/Hive, PySpark in Colab) but shared one schema, definitions and the same 76,000 rows.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HDFS: Data Ingestion</a:t>
            </a:r>
            <a:endParaRPr lang="en-US" sz="3000" dirty="0"/>
          </a:p>
        </p:txBody>
      </p:sp>
      <p:sp>
        <p:nvSpPr>
          <p:cNvPr id="3" name="code"/>
          <p:cNvSpPr/>
          <p:nvPr/>
        </p:nvSpPr>
        <p:spPr>
          <a:xfrm>
            <a:off x="457200" y="1188720"/>
            <a:ext cx="3840480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/data/retail/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raw/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retail_demand.csv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processed/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results/</a:t>
            </a:r>
            <a:endParaRPr lang="en-US" sz="1300" dirty="0"/>
          </a:p>
        </p:txBody>
      </p:sp>
      <p:sp>
        <p:nvSpPr>
          <p:cNvPr id="5" name="code"/>
          <p:cNvSpPr/>
          <p:nvPr/>
        </p:nvSpPr>
        <p:spPr>
          <a:xfrm>
            <a:off x="457200" y="3017520"/>
            <a:ext cx="384048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310896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hdfs dfs -mkdir -p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/data/retail/raw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hdfs dfs -put retail_demand.csv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/data/retail/raw/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hdfs dfs -du -h /data/retail/raw/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816991" y="1123305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EXECUTION EVIDENCE</a:t>
            </a:r>
            <a:endParaRPr lang="en-US" sz="1600" dirty="0"/>
          </a:p>
        </p:txBody>
      </p:sp>
      <p:sp>
        <p:nvSpPr>
          <p:cNvPr id="8" name="badge"/>
          <p:cNvSpPr txBox="1"/>
          <p:nvPr/>
        </p:nvSpPr>
        <p:spPr>
          <a:xfrm>
            <a:off x="5296486" y="1600200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16991" y="15453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Hadoop 3.3.6 initialized</a:t>
            </a:r>
            <a:endParaRPr lang="en-US" sz="1400" dirty="0"/>
          </a:p>
        </p:txBody>
      </p:sp>
      <p:sp>
        <p:nvSpPr>
          <p:cNvPr id="10" name="badge"/>
          <p:cNvSpPr txBox="1"/>
          <p:nvPr/>
        </p:nvSpPr>
        <p:spPr>
          <a:xfrm>
            <a:off x="5296486" y="2012735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16991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NameNode active and healthy</a:t>
            </a:r>
            <a:endParaRPr lang="en-US" sz="1400" dirty="0"/>
          </a:p>
        </p:txBody>
      </p:sp>
      <p:sp>
        <p:nvSpPr>
          <p:cNvPr id="12" name="badge"/>
          <p:cNvSpPr txBox="1"/>
          <p:nvPr/>
        </p:nvSpPr>
        <p:spPr>
          <a:xfrm>
            <a:off x="5296486" y="2450592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16991" y="244355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DataNode active (port 9866)</a:t>
            </a:r>
            <a:endParaRPr lang="en-US" sz="1400" dirty="0"/>
          </a:p>
        </p:txBody>
      </p:sp>
      <p:sp>
        <p:nvSpPr>
          <p:cNvPr id="14" name="badge"/>
          <p:cNvSpPr txBox="1"/>
          <p:nvPr/>
        </p:nvSpPr>
        <p:spPr>
          <a:xfrm>
            <a:off x="5296486" y="2907792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16991" y="2893021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CSV uploaded, 76,000 </a:t>
            </a:r>
            <a:r>
              <a:rPr lang="en-US" sz="1400" dirty="0"/>
              <a:t>records</a:t>
            </a:r>
            <a:r>
              <a:rPr lang="en-US" sz="1400" dirty="0">
                <a:solidFill>
                  <a:schemeClr val="tx1"/>
                </a:solidFill>
              </a:rPr>
              <a:t> verified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794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Hive: Data Modelling</a:t>
            </a:r>
            <a:endParaRPr lang="en-US" sz="3000" dirty="0"/>
          </a:p>
        </p:txBody>
      </p:sp>
      <p:sp>
        <p:nvSpPr>
          <p:cNvPr id="3" name="code"/>
          <p:cNvSpPr/>
          <p:nvPr/>
        </p:nvSpPr>
        <p:spPr>
          <a:xfrm>
            <a:off x="457200" y="1188720"/>
            <a:ext cx="484632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4526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retail_analytics;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EXTERNAL TABLE retail_demand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`date` STRING, store_id STRING,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 STRING, region STRING,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 DOUBLE, discount DOUBLE,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16 columns ...,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demand INT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FORMAT DELIMITED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TERMINATED BY ','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 AS TEXTFILE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'/data/retail/raw'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TBLPROPERTIES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('skip.header.line.count'='1');</a:t>
            </a:r>
            <a:endParaRPr lang="en-US" sz="1100" dirty="0"/>
          </a:p>
        </p:txBody>
      </p:sp>
      <p:sp>
        <p:nvSpPr>
          <p:cNvPr id="5" name="stat"/>
          <p:cNvSpPr/>
          <p:nvPr/>
        </p:nvSpPr>
        <p:spPr>
          <a:xfrm>
            <a:off x="5577840" y="1188720"/>
            <a:ext cx="3108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760720" y="1261872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76,000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854403"/>
            <a:ext cx="27432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rows from SELECT COUNT(*)</a:t>
            </a:r>
            <a:endParaRPr lang="en-US" sz="1400" dirty="0"/>
          </a:p>
        </p:txBody>
      </p:sp>
      <p:sp>
        <p:nvSpPr>
          <p:cNvPr id="8" name="note"/>
          <p:cNvSpPr/>
          <p:nvPr/>
        </p:nvSpPr>
        <p:spPr>
          <a:xfrm>
            <a:off x="5577840" y="260604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760720" y="2606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External table: data stays in HDFS, Hive adds the schema</a:t>
            </a:r>
            <a:endParaRPr lang="en-US" sz="1400" dirty="0"/>
          </a:p>
        </p:txBody>
      </p:sp>
      <p:sp>
        <p:nvSpPr>
          <p:cNvPr id="10" name="note"/>
          <p:cNvSpPr/>
          <p:nvPr/>
        </p:nvSpPr>
        <p:spPr>
          <a:xfrm>
            <a:off x="5577840" y="3657600"/>
            <a:ext cx="3108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760720" y="36576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CSV header skipped via table property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Query 1: Demand by Category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tat"/>
          <p:cNvSpPr/>
          <p:nvPr/>
        </p:nvSpPr>
        <p:spPr>
          <a:xfrm>
            <a:off x="6126480" y="118872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6309360" y="1261872"/>
            <a:ext cx="21945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46.4%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735531"/>
            <a:ext cx="2194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Groceries share of 7.93M units</a:t>
            </a:r>
            <a:endParaRPr lang="en-US" sz="1400" dirty="0"/>
          </a:p>
        </p:txBody>
      </p:sp>
      <p:sp>
        <p:nvSpPr>
          <p:cNvPr id="7" name="stat"/>
          <p:cNvSpPr/>
          <p:nvPr/>
        </p:nvSpPr>
        <p:spPr>
          <a:xfrm>
            <a:off x="6126480" y="237744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309360" y="2450592"/>
            <a:ext cx="21945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120.98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924251"/>
            <a:ext cx="2194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Groceries avg demand per record</a:t>
            </a:r>
            <a:endParaRPr lang="en-US" sz="1400" dirty="0"/>
          </a:p>
        </p:txBody>
      </p:sp>
      <p:sp>
        <p:nvSpPr>
          <p:cNvPr id="10" name="stat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309360" y="3639312"/>
            <a:ext cx="21945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 units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4112971"/>
            <a:ext cx="2194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avg unfilled demand, Groceries + Clothing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Query 2: Region and Seasonality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tat"/>
          <p:cNvSpPr/>
          <p:nvPr/>
        </p:nvSpPr>
        <p:spPr>
          <a:xfrm>
            <a:off x="6126480" y="118872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6309360" y="1261872"/>
            <a:ext cx="21945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3.15M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735531"/>
            <a:ext cx="2194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North total demand, ~1.9× any other region</a:t>
            </a:r>
            <a:endParaRPr lang="en-US" sz="1400" dirty="0"/>
          </a:p>
        </p:txBody>
      </p:sp>
      <p:sp>
        <p:nvSpPr>
          <p:cNvPr id="7" name="stat"/>
          <p:cNvSpPr/>
          <p:nvPr/>
        </p:nvSpPr>
        <p:spPr>
          <a:xfrm>
            <a:off x="6126480" y="237744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309360" y="2450592"/>
            <a:ext cx="21945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Winter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924251"/>
            <a:ext cx="2194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peak season in all 4 regions; Spring is lowest</a:t>
            </a:r>
            <a:endParaRPr lang="en-US" sz="1400" dirty="0"/>
          </a:p>
        </p:txBody>
      </p:sp>
      <p:sp>
        <p:nvSpPr>
          <p:cNvPr id="10" name="stat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309360" y="3639312"/>
            <a:ext cx="21945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4112971"/>
            <a:ext cx="2194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avg discount everywhere; West priciest at ~$77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Query 3: Weather and Promotion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tat"/>
          <p:cNvSpPr/>
          <p:nvPr/>
        </p:nvSpPr>
        <p:spPr>
          <a:xfrm>
            <a:off x="6126480" y="118872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6309360" y="1261872"/>
            <a:ext cx="21945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735531"/>
            <a:ext cx="2194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promotion lift in every weather type</a:t>
            </a:r>
            <a:endParaRPr lang="en-US" sz="1400" dirty="0"/>
          </a:p>
        </p:txBody>
      </p:sp>
      <p:sp>
        <p:nvSpPr>
          <p:cNvPr id="7" name="stat"/>
          <p:cNvSpPr/>
          <p:nvPr/>
        </p:nvSpPr>
        <p:spPr>
          <a:xfrm>
            <a:off x="6126480" y="237744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309360" y="2450592"/>
            <a:ext cx="21945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136.44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924251"/>
            <a:ext cx="2194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best: sunny with promotion</a:t>
            </a:r>
            <a:endParaRPr lang="en-US" sz="1400" dirty="0"/>
          </a:p>
        </p:txBody>
      </p:sp>
      <p:sp>
        <p:nvSpPr>
          <p:cNvPr id="10" name="stat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309360" y="3639312"/>
            <a:ext cx="21945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85.25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4112971"/>
            <a:ext cx="219456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lowest: snowy, no promotion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Key Findings from Hive Analytics</a:t>
            </a:r>
            <a:endParaRPr lang="en-US" sz="3000" dirty="0"/>
          </a:p>
        </p:txBody>
      </p:sp>
      <p:sp>
        <p:nvSpPr>
          <p:cNvPr id="3" name="finding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all demand comes from Groceries, with the highest average per record</a:t>
            </a:r>
            <a:endParaRPr lang="en-US" sz="1400" dirty="0"/>
          </a:p>
        </p:txBody>
      </p:sp>
      <p:sp>
        <p:nvSpPr>
          <p:cNvPr id="6" name="finding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0574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total demand sits in the North region</a:t>
            </a:r>
            <a:endParaRPr lang="en-US" sz="1400" dirty="0"/>
          </a:p>
        </p:txBody>
      </p:sp>
      <p:sp>
        <p:nvSpPr>
          <p:cNvPr id="9" name="finding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85800" y="3108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Winter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40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 the demand peak in every region, ~19–24% above Spring</a:t>
            </a:r>
            <a:endParaRPr lang="en-US" sz="1400" dirty="0"/>
          </a:p>
        </p:txBody>
      </p:sp>
      <p:sp>
        <p:nvSpPr>
          <p:cNvPr id="12" name="finding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892040" y="31089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840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demand lift from promotions, consistent across all weather types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PySpark: Reading and Quality Audit</a:t>
            </a:r>
            <a:endParaRPr lang="en-US" sz="3000" dirty="0"/>
          </a:p>
        </p:txBody>
      </p:sp>
      <p:sp>
        <p:nvSpPr>
          <p:cNvPr id="3" name="page number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6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code panel"/>
          <p:cNvSpPr/>
          <p:nvPr/>
        </p:nvSpPr>
        <p:spPr>
          <a:xfrm>
            <a:off x="457200" y="1188720"/>
            <a:ext cx="4572000" cy="2331720"/>
          </a:xfrm>
          <a:prstGeom prst="roundRect">
            <a:avLst>
              <a:gd name="adj" fmla="val 313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371600"/>
            <a:ext cx="4114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 = (SparkSession.builder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.appName("RetailDemandForecasting")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.getOrCreate())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(spark.read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.option("header", 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.schema(schema)   # explicit types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.csv("/content/retail_demand.csv"))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df.count()                  # 76000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df.rdd.getNumPartitions()   # 2</a:t>
            </a:r>
            <a:endParaRPr lang="en-US" sz="1100" dirty="0"/>
          </a:p>
        </p:txBody>
      </p:sp>
      <p:sp>
        <p:nvSpPr>
          <p:cNvPr id="6" name="note card"/>
          <p:cNvSpPr/>
          <p:nvPr/>
        </p:nvSpPr>
        <p:spPr>
          <a:xfrm>
            <a:off x="457200" y="3703320"/>
            <a:ext cx="45720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3749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Explicit schema avoids an extra inferSchema pass and guarantees correct types.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EXECUTION EVIDENCE</a:t>
            </a:r>
            <a:endParaRPr lang="en-US" sz="1100" dirty="0"/>
          </a:p>
        </p:txBody>
      </p:sp>
      <p:sp>
        <p:nvSpPr>
          <p:cNvPr id="9" name="tick"/>
          <p:cNvSpPr/>
          <p:nvPr/>
        </p:nvSpPr>
        <p:spPr>
          <a:xfrm>
            <a:off x="5394960" y="17373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39496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PySpark 4.0.4 in local[*] mode (Colab)</a:t>
            </a:r>
            <a:endParaRPr lang="en-US" sz="1400" dirty="0"/>
          </a:p>
        </p:txBody>
      </p:sp>
      <p:sp>
        <p:nvSpPr>
          <p:cNvPr id="12" name="tick"/>
          <p:cNvSpPr/>
          <p:nvPr/>
        </p:nvSpPr>
        <p:spPr>
          <a:xfrm>
            <a:off x="5394960" y="230428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39496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2128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76,000 rows × 16 columns, 2 partitions</a:t>
            </a:r>
            <a:endParaRPr lang="en-US" sz="1400" dirty="0"/>
          </a:p>
        </p:txBody>
      </p:sp>
      <p:sp>
        <p:nvSpPr>
          <p:cNvPr id="15" name="tick"/>
          <p:cNvSpPr/>
          <p:nvPr/>
        </p:nvSpPr>
        <p:spPr>
          <a:xfrm>
            <a:off x="5394960" y="2871216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39496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27797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0 nulls, 0 duplicate rows or keys</a:t>
            </a:r>
            <a:endParaRPr lang="en-US" sz="1400" dirty="0"/>
          </a:p>
        </p:txBody>
      </p:sp>
      <p:sp>
        <p:nvSpPr>
          <p:cNvPr id="18" name="tick"/>
          <p:cNvSpPr/>
          <p:nvPr/>
        </p:nvSpPr>
        <p:spPr>
          <a:xfrm>
            <a:off x="5394960" y="343814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39496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346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2022-01-01 to 2024-01-30 (760 days)</a:t>
            </a:r>
            <a:endParaRPr lang="en-US" sz="1400" dirty="0"/>
          </a:p>
        </p:txBody>
      </p:sp>
      <p:sp>
        <p:nvSpPr>
          <p:cNvPr id="21" name="tick"/>
          <p:cNvSpPr/>
          <p:nvPr/>
        </p:nvSpPr>
        <p:spPr>
          <a:xfrm>
            <a:off x="5394960" y="400507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394960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100 series: 5 stores × 20 products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PySpark: Feature Engineering</a:t>
            </a:r>
            <a:endParaRPr lang="en-US" sz="3000" dirty="0"/>
          </a:p>
        </p:txBody>
      </p:sp>
      <p:sp>
        <p:nvSpPr>
          <p:cNvPr id="3" name="page number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6"/>
                </a:solidFill>
              </a:rPr>
              <a:t>13</a:t>
            </a:r>
            <a:endParaRPr lang="en-US" sz="900" dirty="0"/>
          </a:p>
        </p:txBody>
      </p:sp>
      <p:graphicFrame>
        <p:nvGraphicFramePr>
          <p:cNvPr id="4" name="fe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Calendar fields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year, quarter, month, day of week, week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Time patterns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demand_gap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demand − units_sold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Unmet demand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price_vs_competitor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price − competitor_pricing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Price position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effective_price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price × (1 − discount / 100)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Price paid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demand_lag_1, _7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Demand 1 and 7 days earlier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Recent history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demand_roll7 / 28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Average of previous 7 / 28 days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Demand level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ode panel"/>
          <p:cNvSpPr/>
          <p:nvPr/>
        </p:nvSpPr>
        <p:spPr>
          <a:xfrm>
            <a:off x="5715000" y="1188720"/>
            <a:ext cx="297180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5943600" y="1371600"/>
            <a:ext cx="2514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Window.partitionBy(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"store_id", "product_id"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).orderBy("date")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F.lag("demand", 1).over(w)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F.avg("demand").over(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w.rowsBetween(-7, -1))</a:t>
            </a:r>
            <a:endParaRPr lang="en-US" sz="1000" dirty="0"/>
          </a:p>
        </p:txBody>
      </p:sp>
      <p:sp>
        <p:nvSpPr>
          <p:cNvPr id="7" name="note card"/>
          <p:cNvSpPr/>
          <p:nvPr/>
        </p:nvSpPr>
        <p:spPr>
          <a:xfrm>
            <a:off x="5715000" y="3520440"/>
            <a:ext cx="29718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5897880" y="356616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leakage: windows end at the previous row, so a day never predicts itself.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Analytics: Promotion Lift by Category</a:t>
            </a:r>
            <a:endParaRPr lang="en-US" sz="3000" dirty="0"/>
          </a:p>
        </p:txBody>
      </p:sp>
      <p:sp>
        <p:nvSpPr>
          <p:cNvPr id="3" name="page number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6"/>
                </a:solidFill>
              </a:rPr>
              <a:t>14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tat card"/>
          <p:cNvSpPr/>
          <p:nvPr/>
        </p:nvSpPr>
        <p:spPr>
          <a:xfrm>
            <a:off x="603504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217920" y="1280160"/>
            <a:ext cx="22860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+29–31%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73187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promotion lift in every category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6035040" y="237744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6217920" y="2468880"/>
            <a:ext cx="22860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+30.6%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92059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highest lift: Electronics (88.6 → 115.7)</a:t>
            </a:r>
            <a:endParaRPr lang="en-US" sz="1400" dirty="0"/>
          </a:p>
        </p:txBody>
      </p:sp>
      <p:sp>
        <p:nvSpPr>
          <p:cNvPr id="11" name="stat card"/>
          <p:cNvSpPr/>
          <p:nvPr/>
        </p:nvSpPr>
        <p:spPr>
          <a:xfrm>
            <a:off x="6035040" y="356616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217920" y="3657600"/>
            <a:ext cx="22860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142.76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410931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best: Groceries with promotion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Analytics: Epidemic and Discount</a:t>
            </a:r>
            <a:endParaRPr lang="en-US" sz="3000" dirty="0"/>
          </a:p>
        </p:txBody>
      </p:sp>
      <p:sp>
        <p:nvSpPr>
          <p:cNvPr id="3" name="page number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6"/>
                </a:solidFill>
              </a:rPr>
              <a:t>15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tat card"/>
          <p:cNvSpPr/>
          <p:nvPr/>
        </p:nvSpPr>
        <p:spPr>
          <a:xfrm>
            <a:off x="603504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217920" y="1280160"/>
            <a:ext cx="22860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−38%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73187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demand in epidemic records (70.16 vs 112.86)</a:t>
            </a:r>
            <a:endParaRPr lang="en-US" sz="1400" dirty="0"/>
          </a:p>
        </p:txBody>
      </p:sp>
      <p:sp>
        <p:nvSpPr>
          <p:cNvPr id="8" name="stat card"/>
          <p:cNvSpPr/>
          <p:nvPr/>
        </p:nvSpPr>
        <p:spPr>
          <a:xfrm>
            <a:off x="6035040" y="237744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6217920" y="2468880"/>
            <a:ext cx="22860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92059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discount level where gains flatten out</a:t>
            </a:r>
            <a:endParaRPr lang="en-US" sz="1400" dirty="0"/>
          </a:p>
        </p:txBody>
      </p:sp>
      <p:sp>
        <p:nvSpPr>
          <p:cNvPr id="11" name="note card"/>
          <p:cNvSpPr/>
          <p:nvPr/>
        </p:nvSpPr>
        <p:spPr>
          <a:xfrm>
            <a:off x="6035040" y="356616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21792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Descriptive patterns, not proof of cause and effect.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MLlib: Forecasting Design</a:t>
            </a:r>
            <a:endParaRPr lang="en-US" sz="3000" dirty="0"/>
          </a:p>
        </p:txBody>
      </p:sp>
      <p:sp>
        <p:nvSpPr>
          <p:cNvPr id="3" name="page number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6"/>
                </a:solidFill>
              </a:rPr>
              <a:t>16</a:t>
            </a:r>
            <a:endParaRPr lang="en-US" sz="900" dirty="0"/>
          </a:p>
        </p:txBody>
      </p:sp>
      <p:sp>
        <p:nvSpPr>
          <p:cNvPr id="4" name="pipeline step"/>
          <p:cNvSpPr/>
          <p:nvPr/>
        </p:nvSpPr>
        <p:spPr>
          <a:xfrm>
            <a:off x="457200" y="118872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tep badge"/>
          <p:cNvSpPr/>
          <p:nvPr/>
        </p:nvSpPr>
        <p:spPr>
          <a:xfrm>
            <a:off x="594360" y="129844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45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StringIndexer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categories to indices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554480"/>
            <a:ext cx="304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pipeline step"/>
          <p:cNvSpPr/>
          <p:nvPr/>
        </p:nvSpPr>
        <p:spPr>
          <a:xfrm>
            <a:off x="2590495" y="118872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tep badge"/>
          <p:cNvSpPr/>
          <p:nvPr/>
        </p:nvSpPr>
        <p:spPr>
          <a:xfrm>
            <a:off x="2727655" y="129844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727655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27655" y="1645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OneHotEncoder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27655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indices to vectors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19295" y="1554480"/>
            <a:ext cx="304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pipeline step"/>
          <p:cNvSpPr/>
          <p:nvPr/>
        </p:nvSpPr>
        <p:spPr>
          <a:xfrm>
            <a:off x="4723790" y="118872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tep badge"/>
          <p:cNvSpPr/>
          <p:nvPr/>
        </p:nvSpPr>
        <p:spPr>
          <a:xfrm>
            <a:off x="4860950" y="129844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86095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60950" y="1645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VectorAssembler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6095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one feature vector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52590" y="1554480"/>
            <a:ext cx="304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pipeline step"/>
          <p:cNvSpPr/>
          <p:nvPr/>
        </p:nvSpPr>
        <p:spPr>
          <a:xfrm>
            <a:off x="6857086" y="1188720"/>
            <a:ext cx="1828800" cy="1143000"/>
          </a:xfrm>
          <a:prstGeom prst="roundRect">
            <a:avLst>
              <a:gd name="adj" fmla="val 6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tep badge"/>
          <p:cNvSpPr/>
          <p:nvPr/>
        </p:nvSpPr>
        <p:spPr>
          <a:xfrm>
            <a:off x="6994246" y="129844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994246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94246" y="1645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Regressor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94246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Linear Regression or Random Forest</a:t>
            </a:r>
            <a:endParaRPr lang="en-US" sz="1100" dirty="0"/>
          </a:p>
        </p:txBody>
      </p:sp>
      <p:sp>
        <p:nvSpPr>
          <p:cNvPr id="27" name="info card"/>
          <p:cNvSpPr/>
          <p:nvPr/>
        </p:nvSpPr>
        <p:spPr>
          <a:xfrm>
            <a:off x="457200" y="2606040"/>
            <a:ext cx="25603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40080" y="2715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Target and features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Demand per store-product-day, from category, region, weather, price, discount, promotion, epidemic, calendar and past demand.</a:t>
            </a:r>
            <a:endParaRPr lang="en-US" sz="1400" dirty="0"/>
          </a:p>
        </p:txBody>
      </p:sp>
      <p:sp>
        <p:nvSpPr>
          <p:cNvPr id="30" name="info card"/>
          <p:cNvSpPr/>
          <p:nvPr/>
        </p:nvSpPr>
        <p:spPr>
          <a:xfrm>
            <a:off x="3291840" y="2606040"/>
            <a:ext cx="25603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3474720" y="2715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Leakage removed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units_sold, units_ordered and inventory_level are recorded on the same day as demand, so they are excluded.</a:t>
            </a:r>
            <a:endParaRPr lang="en-US" sz="1400" dirty="0"/>
          </a:p>
        </p:txBody>
      </p:sp>
      <p:sp>
        <p:nvSpPr>
          <p:cNvPr id="33" name="info card"/>
          <p:cNvSpPr/>
          <p:nvPr/>
        </p:nvSpPr>
        <p:spPr>
          <a:xfrm>
            <a:off x="6126480" y="2606040"/>
            <a:ext cx="256032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309360" y="2715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Time-based split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Train: Jan 2022 – Sep 2023 (63,100 rows). Test: Oct 2023 – Jan 2024 (12,200 rows). No shuffling.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MLlib: Model Results</a:t>
            </a:r>
            <a:endParaRPr lang="en-US" sz="3000" dirty="0"/>
          </a:p>
        </p:txBody>
      </p:sp>
      <p:sp>
        <p:nvSpPr>
          <p:cNvPr id="3" name="page number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6"/>
                </a:solidFill>
              </a:rPr>
              <a:t>17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3931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118872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ummary strip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Random Forest (50 trees, depth 8)  </a:t>
            </a:r>
            <a:r>
              <a:rPr lang="en-US" sz="1400" dirty="0">
                <a:solidFill>
                  <a:schemeClr val="tx1"/>
                </a:solidFill>
              </a:rPr>
              <a:t>RMSE 31.93  ·  MAE 24.72  ·  R² 0.495  ·  38% lower RMSE than baseline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IN" dirty="0">
                <a:solidFill>
                  <a:srgbClr val="0B1F3A"/>
                </a:solidFill>
              </a:rPr>
              <a:t>HBase: NoSQL Lookup Layer</a:t>
            </a:r>
            <a:br>
              <a:rPr lang="en-IN" dirty="0">
                <a:solidFill>
                  <a:srgbClr val="0B1F3A"/>
                </a:solidFill>
              </a:rPr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41832"/>
            <a:ext cx="2011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F9D8F"/>
                </a:solidFill>
                <a:latin typeface="Calibri"/>
              </a:rPr>
              <a:t>ADVANCED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0" y="941832"/>
            <a:ext cx="10972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0F9D8F"/>
                </a:solidFill>
                <a:latin typeface="Calibri"/>
              </a:rPr>
              <a:t>HBase 1.2.6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783080" cy="1143000"/>
          </a:xfrm>
          <a:prstGeom prst="roundRect">
            <a:avLst/>
          </a:prstGeom>
          <a:solidFill>
            <a:srgbClr val="1F3A5F"/>
          </a:solidFill>
          <a:ln w="1016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344168"/>
            <a:ext cx="274320" cy="274320"/>
          </a:xfrm>
          <a:prstGeom prst="ellipse">
            <a:avLst/>
          </a:prstGeom>
          <a:solidFill>
            <a:srgbClr val="0F9D8F"/>
          </a:solidFill>
          <a:ln>
            <a:solidFill>
              <a:srgbClr val="0F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325880"/>
            <a:ext cx="11887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Store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82496"/>
            <a:ext cx="148132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Spark A1 output
store-level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1536192"/>
            <a:ext cx="256032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0F9D8F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234440"/>
            <a:ext cx="1783080" cy="1143000"/>
          </a:xfrm>
          <a:prstGeom prst="roundRect">
            <a:avLst/>
          </a:prstGeom>
          <a:solidFill>
            <a:srgbClr val="1F3A5F"/>
          </a:solidFill>
          <a:ln w="1016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743200" y="1344168"/>
            <a:ext cx="274320" cy="274320"/>
          </a:xfrm>
          <a:prstGeom prst="ellipse">
            <a:avLst/>
          </a:prstGeom>
          <a:solidFill>
            <a:srgbClr val="0F9D8F"/>
          </a:solidFill>
          <a:ln>
            <a:solidFill>
              <a:srgbClr val="0F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1325880"/>
            <a:ext cx="11887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HDFS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682496"/>
            <a:ext cx="148132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TSV stored under
/data/retail/results/hbase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536192"/>
            <a:ext cx="256032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0F9D8F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234440"/>
            <a:ext cx="1783080" cy="1143000"/>
          </a:xfrm>
          <a:prstGeom prst="roundRect">
            <a:avLst/>
          </a:prstGeom>
          <a:solidFill>
            <a:srgbClr val="1F3A5F"/>
          </a:solidFill>
          <a:ln w="1016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92040" y="1344168"/>
            <a:ext cx="274320" cy="274320"/>
          </a:xfrm>
          <a:prstGeom prst="ellipse">
            <a:avLst/>
          </a:prstGeom>
          <a:solidFill>
            <a:srgbClr val="0F9D8F"/>
          </a:solidFill>
          <a:ln>
            <a:solidFill>
              <a:srgbClr val="0F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1325880"/>
            <a:ext cx="11887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HBase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682496"/>
            <a:ext cx="148132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retail_store_summary
family: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1536192"/>
            <a:ext cx="256032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>
                <a:solidFill>
                  <a:srgbClr val="0F9D8F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234440"/>
            <a:ext cx="1783080" cy="1143000"/>
          </a:xfrm>
          <a:prstGeom prst="roundRect">
            <a:avLst/>
          </a:prstGeom>
          <a:solidFill>
            <a:srgbClr val="1F3A5F"/>
          </a:solidFill>
          <a:ln w="1016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040880" y="1344168"/>
            <a:ext cx="274320" cy="274320"/>
          </a:xfrm>
          <a:prstGeom prst="ellipse">
            <a:avLst/>
          </a:prstGeom>
          <a:solidFill>
            <a:srgbClr val="0F9D8F"/>
          </a:solidFill>
          <a:ln>
            <a:solidFill>
              <a:srgbClr val="0F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325880"/>
            <a:ext cx="11887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Lookup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682496"/>
            <a:ext cx="1481328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Row key: STORE#id
key-based access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06040"/>
            <a:ext cx="2560320" cy="1828800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EE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2761488"/>
            <a:ext cx="217627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Why HBase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127248"/>
            <a:ext cx="2240280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0B1F3A"/>
                </a:solidFill>
                <a:latin typeface="Calibri"/>
              </a:rPr>
              <a:t>Selected store summaries are useful for quick lookup. HBase adds a NoSQL layer keyed by store ID.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606040"/>
            <a:ext cx="2560320" cy="1828800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EE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56432" y="2761488"/>
            <a:ext cx="217627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Table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3127248"/>
            <a:ext cx="2240280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0B1F3A"/>
                </a:solidFill>
                <a:latin typeface="Calibri"/>
              </a:rPr>
              <a:t>Table: retail_store_summary
Column family: demand
region · records · total_demand · avg_demand · avg_demand_gap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2606040"/>
            <a:ext cx="2560320" cy="1828800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EE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91072" y="2761488"/>
            <a:ext cx="2176272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Row-Key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3127248"/>
            <a:ext cx="2240280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0B1F3A"/>
                </a:solidFill>
                <a:latin typeface="Calibri"/>
              </a:rPr>
              <a:t>Each store uses STORE#&lt;store_id&gt; as its row key, so a known store can be retrieved directly.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dirty="0"/>
              <a:t>H</a:t>
            </a:r>
            <a:r>
              <a:rPr lang="en-IN" dirty="0"/>
              <a:t>b</a:t>
            </a:r>
            <a:r>
              <a:rPr dirty="0" err="1"/>
              <a:t>ase</a:t>
            </a:r>
            <a:r>
              <a:rPr dirty="0"/>
              <a:t>: Implementation and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41832"/>
            <a:ext cx="22860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F9D8F"/>
                </a:solidFill>
                <a:latin typeface="Calibri"/>
              </a:rPr>
              <a:t>EXECUTION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87780"/>
            <a:ext cx="5541264" cy="3403092"/>
          </a:xfrm>
          <a:prstGeom prst="roundRect">
            <a:avLst/>
          </a:prstGeom>
          <a:solidFill>
            <a:srgbClr val="0B1F3A"/>
          </a:solidFill>
          <a:ln w="1016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shot 2026-10-02 1947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90472"/>
            <a:ext cx="5038344" cy="26609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4160520"/>
            <a:ext cx="48920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HBase count + scan: five store-summary rows loaded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234440"/>
            <a:ext cx="2697480" cy="914400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EE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9632" y="1399032"/>
            <a:ext cx="502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0F9D8F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490472"/>
            <a:ext cx="731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F9D8F"/>
                </a:solidFill>
                <a:latin typeface="Calibri"/>
              </a:rPr>
              <a:t>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527048"/>
            <a:ext cx="10515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>
                <a:solidFill>
                  <a:srgbClr val="0B1F3A"/>
                </a:solidFill>
                <a:latin typeface="Calibri"/>
              </a:rPr>
              <a:t>validated by 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286000"/>
            <a:ext cx="2697480" cy="914400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EE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2468880"/>
            <a:ext cx="19659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0F9D8F"/>
                </a:solidFill>
                <a:latin typeface="Calibri"/>
              </a:rPr>
              <a:t>S001–S005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834640"/>
            <a:ext cx="2057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0B1F3A"/>
                </a:solidFill>
                <a:latin typeface="Calibri"/>
              </a:rPr>
              <a:t>store row keys visible in scan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337560"/>
            <a:ext cx="2834640" cy="1531620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EE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9632" y="3502152"/>
            <a:ext cx="1371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3858768"/>
            <a:ext cx="2212848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0B1F3A"/>
                </a:solidFill>
                <a:latin typeface="Courier New"/>
              </a:rPr>
              <a:t>count 'retail_store_summary'
scan 'retail_store_summary'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4517136"/>
            <a:ext cx="21488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19" b="0">
                <a:solidFill>
                  <a:srgbClr val="64748B"/>
                </a:solidFill>
                <a:latin typeface="Calibri"/>
              </a:rPr>
              <a:t>Actual project demand summaries stored in HBase.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Key Findings and Hand-off</a:t>
            </a:r>
            <a:endParaRPr lang="en-US" sz="3000" dirty="0"/>
          </a:p>
        </p:txBody>
      </p:sp>
      <p:sp>
        <p:nvSpPr>
          <p:cNvPr id="3" name="page number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6"/>
                </a:solidFill>
              </a:rPr>
              <a:t>18</a:t>
            </a:r>
            <a:endParaRPr lang="en-US" sz="900" dirty="0"/>
          </a:p>
        </p:txBody>
      </p:sp>
      <p:sp>
        <p:nvSpPr>
          <p:cNvPr id="4" name="stat card"/>
          <p:cNvSpPr/>
          <p:nvPr/>
        </p:nvSpPr>
        <p:spPr>
          <a:xfrm>
            <a:off x="457200" y="1188720"/>
            <a:ext cx="25146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214884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+30%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28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demand lift from promotions, consistent across all five categories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3154680" y="1188720"/>
            <a:ext cx="25146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337560" y="1280160"/>
            <a:ext cx="214884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−38%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0528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lower average demand during epidemic periods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457200" y="2971800"/>
            <a:ext cx="25146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0080" y="3063240"/>
            <a:ext cx="214884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359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discount level beyond which extra demand levels off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3154680" y="2971800"/>
            <a:ext cx="25146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337560" y="3063240"/>
            <a:ext cx="214884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0.495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8359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R² of the Random Forest on the held-out test period</a:t>
            </a:r>
            <a:endParaRPr lang="en-US" sz="1400" dirty="0"/>
          </a:p>
        </p:txBody>
      </p:sp>
      <p:sp>
        <p:nvSpPr>
          <p:cNvPr id="16" name="hand-off panel"/>
          <p:cNvSpPr/>
          <p:nvPr/>
        </p:nvSpPr>
        <p:spPr>
          <a:xfrm>
            <a:off x="5852160" y="1188720"/>
            <a:ext cx="2834640" cy="3383280"/>
          </a:xfrm>
          <a:prstGeom prst="roundRect">
            <a:avLst>
              <a:gd name="adj" fmla="val 258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08076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1"/>
                </a:solidFill>
              </a:rPr>
              <a:t>HAND-OFF TO STUDENT 4 AND 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178308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Cleaned data with features (Parquet)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Seven analysis tables and model metrics (CSV)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Random Forest predictions and feature importance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Summary tables suit HBase key-value lookups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Integration &amp; Documentation</a:t>
            </a:r>
            <a:endParaRPr lang="en-US" sz="3000" dirty="0"/>
          </a:p>
        </p:txBody>
      </p:sp>
      <p:sp>
        <p:nvSpPr>
          <p:cNvPr id="3" name="page number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6"/>
                </a:solidFill>
              </a:rPr>
              <a:t>19</a:t>
            </a:r>
            <a:endParaRPr lang="en-US" sz="900" dirty="0"/>
          </a:p>
        </p:txBody>
      </p:sp>
      <p:sp>
        <p:nvSpPr>
          <p:cNvPr id="11" name="flow step"/>
          <p:cNvSpPr/>
          <p:nvPr/>
        </p:nvSpPr>
        <p:spPr>
          <a:xfrm>
            <a:off x="457200" y="1051560"/>
            <a:ext cx="1181100" cy="5943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flow label"/>
          <p:cNvSpPr txBox="1"/>
          <p:nvPr/>
        </p:nvSpPr>
        <p:spPr>
          <a:xfrm>
            <a:off x="502920" y="1051560"/>
            <a:ext cx="10896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CSV</a:t>
            </a:r>
          </a:p>
        </p:txBody>
      </p:sp>
      <p:sp>
        <p:nvSpPr>
          <p:cNvPr id="13" name="arrow"/>
          <p:cNvSpPr/>
          <p:nvPr/>
        </p:nvSpPr>
        <p:spPr>
          <a:xfrm>
            <a:off x="1684020" y="1280160"/>
            <a:ext cx="137160" cy="1371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flow step"/>
          <p:cNvSpPr/>
          <p:nvPr/>
        </p:nvSpPr>
        <p:spPr>
          <a:xfrm>
            <a:off x="1866900" y="1051560"/>
            <a:ext cx="1181100" cy="5943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flow label"/>
          <p:cNvSpPr txBox="1"/>
          <p:nvPr/>
        </p:nvSpPr>
        <p:spPr>
          <a:xfrm>
            <a:off x="1912620" y="1051560"/>
            <a:ext cx="10896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HDFS</a:t>
            </a:r>
          </a:p>
        </p:txBody>
      </p:sp>
      <p:sp>
        <p:nvSpPr>
          <p:cNvPr id="16" name="arrow"/>
          <p:cNvSpPr/>
          <p:nvPr/>
        </p:nvSpPr>
        <p:spPr>
          <a:xfrm>
            <a:off x="3093720" y="1280160"/>
            <a:ext cx="137160" cy="1371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flow step"/>
          <p:cNvSpPr/>
          <p:nvPr/>
        </p:nvSpPr>
        <p:spPr>
          <a:xfrm>
            <a:off x="3276600" y="1051560"/>
            <a:ext cx="1181100" cy="5943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flow label"/>
          <p:cNvSpPr txBox="1"/>
          <p:nvPr/>
        </p:nvSpPr>
        <p:spPr>
          <a:xfrm>
            <a:off x="3322320" y="1051560"/>
            <a:ext cx="10896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Hive</a:t>
            </a:r>
          </a:p>
        </p:txBody>
      </p:sp>
      <p:sp>
        <p:nvSpPr>
          <p:cNvPr id="19" name="arrow"/>
          <p:cNvSpPr/>
          <p:nvPr/>
        </p:nvSpPr>
        <p:spPr>
          <a:xfrm>
            <a:off x="4503420" y="1280160"/>
            <a:ext cx="137160" cy="1371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flow step"/>
          <p:cNvSpPr/>
          <p:nvPr/>
        </p:nvSpPr>
        <p:spPr>
          <a:xfrm>
            <a:off x="4686300" y="1051560"/>
            <a:ext cx="1181100" cy="5943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flow label"/>
          <p:cNvSpPr txBox="1"/>
          <p:nvPr/>
        </p:nvSpPr>
        <p:spPr>
          <a:xfrm>
            <a:off x="4732020" y="1051560"/>
            <a:ext cx="10896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Spark / PySpark</a:t>
            </a:r>
          </a:p>
        </p:txBody>
      </p:sp>
      <p:sp>
        <p:nvSpPr>
          <p:cNvPr id="22" name="arrow"/>
          <p:cNvSpPr/>
          <p:nvPr/>
        </p:nvSpPr>
        <p:spPr>
          <a:xfrm>
            <a:off x="5913120" y="1280160"/>
            <a:ext cx="137160" cy="1371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flow step"/>
          <p:cNvSpPr/>
          <p:nvPr/>
        </p:nvSpPr>
        <p:spPr>
          <a:xfrm>
            <a:off x="6096000" y="1051560"/>
            <a:ext cx="1181100" cy="59436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flow label"/>
          <p:cNvSpPr txBox="1"/>
          <p:nvPr/>
        </p:nvSpPr>
        <p:spPr>
          <a:xfrm>
            <a:off x="6141720" y="1051560"/>
            <a:ext cx="10896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HBase</a:t>
            </a:r>
          </a:p>
        </p:txBody>
      </p:sp>
      <p:sp>
        <p:nvSpPr>
          <p:cNvPr id="25" name="arrow"/>
          <p:cNvSpPr/>
          <p:nvPr/>
        </p:nvSpPr>
        <p:spPr>
          <a:xfrm>
            <a:off x="7322820" y="1280160"/>
            <a:ext cx="137160" cy="1371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flow step"/>
          <p:cNvSpPr/>
          <p:nvPr/>
        </p:nvSpPr>
        <p:spPr>
          <a:xfrm>
            <a:off x="7505700" y="1051560"/>
            <a:ext cx="1181100" cy="5943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flow label"/>
          <p:cNvSpPr txBox="1"/>
          <p:nvPr/>
        </p:nvSpPr>
        <p:spPr>
          <a:xfrm>
            <a:off x="7551420" y="1051560"/>
            <a:ext cx="10896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Final Results</a:t>
            </a:r>
          </a:p>
        </p:txBody>
      </p:sp>
      <p:sp>
        <p:nvSpPr>
          <p:cNvPr id="28" name="item"/>
          <p:cNvSpPr/>
          <p:nvPr/>
        </p:nvSpPr>
        <p:spPr>
          <a:xfrm>
            <a:off x="457200" y="1783080"/>
            <a:ext cx="8229600" cy="50292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badge"/>
          <p:cNvSpPr txBox="1"/>
          <p:nvPr/>
        </p:nvSpPr>
        <p:spPr>
          <a:xfrm>
            <a:off x="594360" y="1888236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0" name="item text"/>
          <p:cNvSpPr txBox="1"/>
          <p:nvPr/>
        </p:nvSpPr>
        <p:spPr>
          <a:xfrm>
            <a:off x="1051560" y="17830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Consolidated outputs</a:t>
            </a:r>
            <a:r>
              <a:rPr lang="en-US" sz="1400" dirty="0">
                <a:solidFill>
                  <a:schemeClr val="tx1"/>
                </a:solidFill>
              </a:rPr>
              <a:t> from HDFS, Hive, Spark/PySpark and HBase into one project workflow</a:t>
            </a:r>
          </a:p>
        </p:txBody>
      </p:sp>
      <p:sp>
        <p:nvSpPr>
          <p:cNvPr id="31" name="item"/>
          <p:cNvSpPr/>
          <p:nvPr/>
        </p:nvSpPr>
        <p:spPr>
          <a:xfrm>
            <a:off x="457200" y="2359152"/>
            <a:ext cx="8229600" cy="50292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badge"/>
          <p:cNvSpPr txBox="1"/>
          <p:nvPr/>
        </p:nvSpPr>
        <p:spPr>
          <a:xfrm>
            <a:off x="594360" y="2464308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3" name="item text"/>
          <p:cNvSpPr txBox="1"/>
          <p:nvPr/>
        </p:nvSpPr>
        <p:spPr>
          <a:xfrm>
            <a:off x="1051560" y="235915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Documented the end-to-end flow:</a:t>
            </a:r>
            <a:r>
              <a:rPr lang="en-US" sz="1400" dirty="0">
                <a:solidFill>
                  <a:schemeClr val="tx1"/>
                </a:solidFill>
              </a:rPr>
              <a:t> CSV → HDFS → Hive → Spark/PySpark → HBase → Final Results</a:t>
            </a:r>
          </a:p>
        </p:txBody>
      </p:sp>
      <p:sp>
        <p:nvSpPr>
          <p:cNvPr id="34" name="item"/>
          <p:cNvSpPr/>
          <p:nvPr/>
        </p:nvSpPr>
        <p:spPr>
          <a:xfrm>
            <a:off x="457200" y="2935224"/>
            <a:ext cx="8229600" cy="50292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badge"/>
          <p:cNvSpPr txBox="1"/>
          <p:nvPr/>
        </p:nvSpPr>
        <p:spPr>
          <a:xfrm>
            <a:off x="594360" y="3040380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6" name="item text"/>
          <p:cNvSpPr txBox="1"/>
          <p:nvPr/>
        </p:nvSpPr>
        <p:spPr>
          <a:xfrm>
            <a:off x="1051560" y="293522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Reviewed outputs</a:t>
            </a:r>
            <a:r>
              <a:rPr lang="en-US" sz="1400" dirty="0">
                <a:solidFill>
                  <a:schemeClr val="tx1"/>
                </a:solidFill>
              </a:rPr>
              <a:t> from each team member and organized them into the final project structure</a:t>
            </a:r>
          </a:p>
        </p:txBody>
      </p:sp>
      <p:sp>
        <p:nvSpPr>
          <p:cNvPr id="37" name="item"/>
          <p:cNvSpPr/>
          <p:nvPr/>
        </p:nvSpPr>
        <p:spPr>
          <a:xfrm>
            <a:off x="457200" y="3511296"/>
            <a:ext cx="8229600" cy="50292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badge"/>
          <p:cNvSpPr txBox="1"/>
          <p:nvPr/>
        </p:nvSpPr>
        <p:spPr>
          <a:xfrm>
            <a:off x="594360" y="3616452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9" name="item text"/>
          <p:cNvSpPr txBox="1"/>
          <p:nvPr/>
        </p:nvSpPr>
        <p:spPr>
          <a:xfrm>
            <a:off x="1051560" y="35112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Prepared the README,</a:t>
            </a:r>
            <a:r>
              <a:rPr lang="en-US" sz="1400" dirty="0">
                <a:solidFill>
                  <a:schemeClr val="tx1"/>
                </a:solidFill>
              </a:rPr>
              <a:t> project documentation and final results for reproducibility</a:t>
            </a:r>
          </a:p>
        </p:txBody>
      </p:sp>
      <p:sp>
        <p:nvSpPr>
          <p:cNvPr id="40" name="item"/>
          <p:cNvSpPr/>
          <p:nvPr/>
        </p:nvSpPr>
        <p:spPr>
          <a:xfrm>
            <a:off x="457200" y="4087368"/>
            <a:ext cx="8229600" cy="50292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badge"/>
          <p:cNvSpPr txBox="1"/>
          <p:nvPr/>
        </p:nvSpPr>
        <p:spPr>
          <a:xfrm>
            <a:off x="594360" y="4192524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2" name="item text"/>
          <p:cNvSpPr txBox="1"/>
          <p:nvPr/>
        </p:nvSpPr>
        <p:spPr>
          <a:xfrm>
            <a:off x="1051560" y="4087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Documented limitations,</a:t>
            </a:r>
            <a:r>
              <a:rPr lang="en-US" sz="1400" dirty="0">
                <a:solidFill>
                  <a:schemeClr val="tx1"/>
                </a:solidFill>
              </a:rPr>
              <a:t> execution environments and individual contributions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Final Results &amp; Validation</a:t>
            </a:r>
            <a:endParaRPr lang="en-US" sz="3000" dirty="0"/>
          </a:p>
        </p:txBody>
      </p:sp>
      <p:sp>
        <p:nvSpPr>
          <p:cNvPr id="3" name="page number"/>
          <p:cNvSpPr txBox="1"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6"/>
                </a:solidFill>
              </a:rPr>
              <a:t>20</a:t>
            </a:r>
            <a:endParaRPr lang="en-US" sz="900" dirty="0"/>
          </a:p>
        </p:txBody>
      </p:sp>
      <p:sp>
        <p:nvSpPr>
          <p:cNvPr id="11" name="stat card"/>
          <p:cNvSpPr/>
          <p:nvPr/>
        </p:nvSpPr>
        <p:spPr>
          <a:xfrm>
            <a:off x="457200" y="1051560"/>
            <a:ext cx="2621280" cy="118872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tat value"/>
          <p:cNvSpPr txBox="1"/>
          <p:nvPr/>
        </p:nvSpPr>
        <p:spPr>
          <a:xfrm>
            <a:off x="640080" y="114300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31.931</a:t>
            </a:r>
          </a:p>
        </p:txBody>
      </p:sp>
      <p:sp>
        <p:nvSpPr>
          <p:cNvPr id="13" name="stat label"/>
          <p:cNvSpPr txBox="1"/>
          <p:nvPr/>
        </p:nvSpPr>
        <p:spPr>
          <a:xfrm>
            <a:off x="640080" y="178308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RMSE · Random Forest</a:t>
            </a:r>
          </a:p>
        </p:txBody>
      </p:sp>
      <p:sp>
        <p:nvSpPr>
          <p:cNvPr id="14" name="stat card"/>
          <p:cNvSpPr/>
          <p:nvPr/>
        </p:nvSpPr>
        <p:spPr>
          <a:xfrm>
            <a:off x="3261360" y="1051560"/>
            <a:ext cx="2621280" cy="118872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tat value"/>
          <p:cNvSpPr txBox="1"/>
          <p:nvPr/>
        </p:nvSpPr>
        <p:spPr>
          <a:xfrm>
            <a:off x="3444240" y="114300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24.715</a:t>
            </a:r>
          </a:p>
        </p:txBody>
      </p:sp>
      <p:sp>
        <p:nvSpPr>
          <p:cNvPr id="16" name="stat label"/>
          <p:cNvSpPr txBox="1"/>
          <p:nvPr/>
        </p:nvSpPr>
        <p:spPr>
          <a:xfrm>
            <a:off x="3444240" y="178308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MAE · Random Forest</a:t>
            </a:r>
          </a:p>
        </p:txBody>
      </p:sp>
      <p:sp>
        <p:nvSpPr>
          <p:cNvPr id="17" name="stat card"/>
          <p:cNvSpPr/>
          <p:nvPr/>
        </p:nvSpPr>
        <p:spPr>
          <a:xfrm>
            <a:off x="6065520" y="1051560"/>
            <a:ext cx="2621280" cy="118872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tat value"/>
          <p:cNvSpPr txBox="1"/>
          <p:nvPr/>
        </p:nvSpPr>
        <p:spPr>
          <a:xfrm>
            <a:off x="6248400" y="114300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0.495</a:t>
            </a:r>
          </a:p>
        </p:txBody>
      </p:sp>
      <p:sp>
        <p:nvSpPr>
          <p:cNvPr id="19" name="stat label"/>
          <p:cNvSpPr txBox="1"/>
          <p:nvPr/>
        </p:nvSpPr>
        <p:spPr>
          <a:xfrm>
            <a:off x="6248400" y="1783080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R² · Random Forest</a:t>
            </a:r>
          </a:p>
        </p:txBody>
      </p:sp>
      <p:sp>
        <p:nvSpPr>
          <p:cNvPr id="20" name="stat card"/>
          <p:cNvSpPr/>
          <p:nvPr/>
        </p:nvSpPr>
        <p:spPr>
          <a:xfrm>
            <a:off x="457200" y="2423160"/>
            <a:ext cx="2194560" cy="146304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tat value"/>
          <p:cNvSpPr txBox="1"/>
          <p:nvPr/>
        </p:nvSpPr>
        <p:spPr>
          <a:xfrm>
            <a:off x="64008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76,000</a:t>
            </a:r>
          </a:p>
        </p:txBody>
      </p:sp>
      <p:sp>
        <p:nvSpPr>
          <p:cNvPr id="22" name="stat label"/>
          <p:cNvSpPr txBox="1"/>
          <p:nvPr/>
        </p:nvSpPr>
        <p:spPr>
          <a:xfrm>
            <a:off x="64008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retail records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5 stores · 16 attributes</a:t>
            </a:r>
          </a:p>
        </p:txBody>
      </p:sp>
      <p:sp>
        <p:nvSpPr>
          <p:cNvPr id="23" name="stat card"/>
          <p:cNvSpPr/>
          <p:nvPr/>
        </p:nvSpPr>
        <p:spPr>
          <a:xfrm>
            <a:off x="2834640" y="2423160"/>
            <a:ext cx="2194560" cy="146304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tat value"/>
          <p:cNvSpPr txBox="1"/>
          <p:nvPr/>
        </p:nvSpPr>
        <p:spPr>
          <a:xfrm>
            <a:off x="301752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S002</a:t>
            </a:r>
          </a:p>
        </p:txBody>
      </p:sp>
      <p:sp>
        <p:nvSpPr>
          <p:cNvPr id="25" name="stat label"/>
          <p:cNvSpPr txBox="1"/>
          <p:nvPr/>
        </p:nvSpPr>
        <p:spPr>
          <a:xfrm>
            <a:off x="3017520" y="3154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1,625,471 units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highest total demand</a:t>
            </a:r>
          </a:p>
        </p:txBody>
      </p:sp>
      <p:sp>
        <p:nvSpPr>
          <p:cNvPr id="26" name="stat card"/>
          <p:cNvSpPr/>
          <p:nvPr/>
        </p:nvSpPr>
        <p:spPr>
          <a:xfrm>
            <a:off x="5212080" y="2423160"/>
            <a:ext cx="3474720" cy="146304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tat value"/>
          <p:cNvSpPr txBox="1"/>
          <p:nvPr/>
        </p:nvSpPr>
        <p:spPr>
          <a:xfrm>
            <a:off x="539496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5/5</a:t>
            </a:r>
          </a:p>
        </p:txBody>
      </p:sp>
      <p:sp>
        <p:nvSpPr>
          <p:cNvPr id="28" name="stat label"/>
          <p:cNvSpPr txBox="1"/>
          <p:nvPr/>
        </p:nvSpPr>
        <p:spPr>
          <a:xfrm>
            <a:off x="539496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stores matched (Spark vs HBase)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30/30 field-level values matched</a:t>
            </a:r>
          </a:p>
        </p:txBody>
      </p:sp>
      <p:sp>
        <p:nvSpPr>
          <p:cNvPr id="29" name="banner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banner text"/>
          <p:cNvSpPr txBox="1"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Reviewed for </a:t>
            </a:r>
            <a:r>
              <a:rPr lang="en-US" sz="1400" b="1" dirty="0">
                <a:solidFill>
                  <a:schemeClr val="accent1"/>
                </a:solidFill>
              </a:rPr>
              <a:t>consistency, correctness and completeness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BIG DATA ANALYTICS CAPSTONE PROJECT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4173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Retail Demand Forecasting  ·  Big Data Analytics Pipeline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MSc Data Science and Analytics  |  Jain (Deemed-to-be) University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 Aisha Rasifa PS  ·  Abina A  ·  Akhila Vaidya  ·  Anuska Misra  ·  Divyanshi Mishra</a:t>
            </a:r>
            <a:endParaRPr lang="en-US" sz="1200" dirty="0"/>
          </a:p>
        </p:txBody>
      </p:sp>
      <p:sp>
        <p:nvSpPr>
          <p:cNvPr id="8" name="layer"/>
          <p:cNvSpPr/>
          <p:nvPr/>
        </p:nvSpPr>
        <p:spPr>
          <a:xfrm>
            <a:off x="6492240" y="868680"/>
            <a:ext cx="219456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badge"/>
          <p:cNvSpPr txBox="1"/>
          <p:nvPr/>
        </p:nvSpPr>
        <p:spPr>
          <a:xfrm>
            <a:off x="6629400" y="978408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868680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HDFS</a:t>
            </a:r>
            <a:endParaRPr lang="en-US" sz="1400" dirty="0"/>
          </a:p>
        </p:txBody>
      </p:sp>
      <p:sp>
        <p:nvSpPr>
          <p:cNvPr id="11" name="layer"/>
          <p:cNvSpPr/>
          <p:nvPr/>
        </p:nvSpPr>
        <p:spPr>
          <a:xfrm>
            <a:off x="6492240" y="1618488"/>
            <a:ext cx="219456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badge"/>
          <p:cNvSpPr txBox="1"/>
          <p:nvPr/>
        </p:nvSpPr>
        <p:spPr>
          <a:xfrm>
            <a:off x="6629400" y="1728216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618488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Hive</a:t>
            </a:r>
            <a:endParaRPr lang="en-US" sz="1400" dirty="0"/>
          </a:p>
        </p:txBody>
      </p:sp>
      <p:sp>
        <p:nvSpPr>
          <p:cNvPr id="14" name="layer"/>
          <p:cNvSpPr/>
          <p:nvPr/>
        </p:nvSpPr>
        <p:spPr>
          <a:xfrm>
            <a:off x="6492240" y="2368296"/>
            <a:ext cx="219456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badge"/>
          <p:cNvSpPr txBox="1"/>
          <p:nvPr/>
        </p:nvSpPr>
        <p:spPr>
          <a:xfrm>
            <a:off x="6629400" y="2478024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368296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Spark / PySpark</a:t>
            </a:r>
            <a:endParaRPr lang="en-US" sz="1400" dirty="0"/>
          </a:p>
        </p:txBody>
      </p:sp>
      <p:sp>
        <p:nvSpPr>
          <p:cNvPr id="17" name="layer"/>
          <p:cNvSpPr/>
          <p:nvPr/>
        </p:nvSpPr>
        <p:spPr>
          <a:xfrm>
            <a:off x="6492240" y="3118104"/>
            <a:ext cx="219456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badge"/>
          <p:cNvSpPr txBox="1"/>
          <p:nvPr/>
        </p:nvSpPr>
        <p:spPr>
          <a:xfrm>
            <a:off x="6629400" y="3227832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118104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Spark MLlib</a:t>
            </a:r>
            <a:endParaRPr lang="en-US" sz="1400" dirty="0"/>
          </a:p>
        </p:txBody>
      </p:sp>
      <p:sp>
        <p:nvSpPr>
          <p:cNvPr id="20" name="layer"/>
          <p:cNvSpPr/>
          <p:nvPr/>
        </p:nvSpPr>
        <p:spPr>
          <a:xfrm>
            <a:off x="6492240" y="3867912"/>
            <a:ext cx="2194560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badge"/>
          <p:cNvSpPr txBox="1"/>
          <p:nvPr/>
        </p:nvSpPr>
        <p:spPr>
          <a:xfrm>
            <a:off x="6629400" y="3977640"/>
            <a:ext cx="365760" cy="36576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867912"/>
            <a:ext cx="1508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HBase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ail Demand">
  <a:themeElements>
    <a:clrScheme name="Retail Demand">
      <a:dk1>
        <a:srgbClr val="0B1F3A"/>
      </a:dk1>
      <a:lt1>
        <a:srgbClr val="FFFFFF"/>
      </a:lt1>
      <a:dk2>
        <a:srgbClr val="1F3A5F"/>
      </a:dk2>
      <a:lt2>
        <a:srgbClr val="EEF3F8"/>
      </a:lt2>
      <a:accent1>
        <a:srgbClr val="0F9D8F"/>
      </a:accent1>
      <a:accent2>
        <a:srgbClr val="F59E0B"/>
      </a:accent2>
      <a:accent3>
        <a:srgbClr val="E4572E"/>
      </a:accent3>
      <a:accent4>
        <a:srgbClr val="5B7C99"/>
      </a:accent4>
      <a:accent5>
        <a:srgbClr val="8FB8DE"/>
      </a:accent5>
      <a:accent6>
        <a:srgbClr val="94A3B8"/>
      </a:accent6>
      <a:hlink>
        <a:srgbClr val="0F9D8F"/>
      </a:hlink>
      <a:folHlink>
        <a:srgbClr val="5B7C99"/>
      </a:folHlink>
    </a:clrScheme>
    <a:fontScheme name="Retail Dema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1510</Words>
  <Application>Microsoft Office PowerPoint</Application>
  <PresentationFormat>On-screen Show (16:9)</PresentationFormat>
  <Paragraphs>340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Retail Demand</vt:lpstr>
      <vt:lpstr>Retail Demand Forecasting</vt:lpstr>
      <vt:lpstr>Team and Responsibilities</vt:lpstr>
      <vt:lpstr>Business Problem and Objectives</vt:lpstr>
      <vt:lpstr>Dataset Snapshot</vt:lpstr>
      <vt:lpstr>Big Data Architecture</vt:lpstr>
      <vt:lpstr>HDFS: Data Ingestion</vt:lpstr>
      <vt:lpstr>Hive: Data Modelling</vt:lpstr>
      <vt:lpstr>Query 1: Demand by Category</vt:lpstr>
      <vt:lpstr>Query 2: Region and Seasonality</vt:lpstr>
      <vt:lpstr>Query 3: Weather and Promotion</vt:lpstr>
      <vt:lpstr>Key Findings from Hive Analytics</vt:lpstr>
      <vt:lpstr>PySpark: Reading and Quality Audit</vt:lpstr>
      <vt:lpstr>PySpark: Feature Engineering</vt:lpstr>
      <vt:lpstr>Analytics: Promotion Lift by Category</vt:lpstr>
      <vt:lpstr>Analytics: Epidemic and Discount</vt:lpstr>
      <vt:lpstr>MLlib: Forecasting Design</vt:lpstr>
      <vt:lpstr>MLlib: Model Results</vt:lpstr>
      <vt:lpstr>HBase: NoSQL Lookup Layer </vt:lpstr>
      <vt:lpstr>Hbase: Implementation and Verification</vt:lpstr>
      <vt:lpstr>Key Findings and Hand-off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Demand Forecasting – Big Data Analytics Pipeline</dc:title>
  <dc:subject>PptxGenJS Presentation</dc:subject>
  <dc:creator>Capstone Team – Jain (Deemed-to-be) University</dc:creator>
  <cp:lastModifiedBy>Anushka Misra</cp:lastModifiedBy>
  <cp:revision>4</cp:revision>
  <dcterms:created xsi:type="dcterms:W3CDTF">2026-10-05T00:33:30Z</dcterms:created>
  <dcterms:modified xsi:type="dcterms:W3CDTF">2026-10-06T14:05:00Z</dcterms:modified>
</cp:coreProperties>
</file>